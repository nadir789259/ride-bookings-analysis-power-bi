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EC4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bubble3D val="0"/>
            <c:spPr>
              <a:solidFill>
                <a:srgbClr val="95A5A6"/>
              </a:solidFill>
              <a:effectLst/>
            </c:spPr>
          </c:dPt>
          <c:dPt>
            <c:idx val="4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Driver Cancel</c:v>
                </c:pt>
                <c:pt idx="2">
                  <c:v>No Driver</c:v>
                </c:pt>
                <c:pt idx="3">
                  <c:v>Customer Cancel</c:v>
                </c:pt>
                <c:pt idx="4">
                  <c:v>Incomplete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62</c:v>
                </c:pt>
                <c:pt idx="1">
                  <c:v>18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Share</c:v>
                </c:pt>
              </c:strCache>
            </c:strRef>
          </c:tx>
          <c:spPr>
            <a:solidFill>
              <a:srgbClr val="0D7E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E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Auto</c:v>
                  </c:pt>
                  <c:pt idx="1">
                    <c:v>Go Mini</c:v>
                  </c:pt>
                  <c:pt idx="2">
                    <c:v>Go Sedan</c:v>
                  </c:pt>
                  <c:pt idx="3">
                    <c:v>Bike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24.95</c:v>
                </c:pt>
                <c:pt idx="1">
                  <c:v>19.87</c:v>
                </c:pt>
                <c:pt idx="2">
                  <c:v>18.09</c:v>
                </c:pt>
                <c:pt idx="3">
                  <c:v>15.01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EC4"/>
              </a:solidFill>
              <a:effectLst/>
            </c:spPr>
          </c:dPt>
          <c:dPt>
            <c:idx val="1"/>
            <c:bubble3D val="0"/>
            <c:spPr>
              <a:solidFill>
                <a:srgbClr val="95A5A6"/>
              </a:solidFill>
              <a:effectLst/>
            </c:spPr>
          </c:dPt>
          <c:dPt>
            <c:idx val="2"/>
            <c:bubble3D val="0"/>
            <c:spPr>
              <a:solidFill>
                <a:srgbClr val="4BB3E8"/>
              </a:solidFill>
              <a:effectLst/>
            </c:spPr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</c:dPt>
          <c:dPt>
            <c:idx val="4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Cash</c:v>
                </c:pt>
                <c:pt idx="2">
                  <c:v>Uber Wallet</c:v>
                </c:pt>
                <c:pt idx="3">
                  <c:v>Credit Card</c:v>
                </c:pt>
                <c:pt idx="4">
                  <c:v>Debit Card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24.9</c:v>
                </c:pt>
                <c:pt idx="2">
                  <c:v>12</c:v>
                </c:pt>
                <c:pt idx="3">
                  <c:v>10</c:v>
                </c:pt>
                <c:pt idx="4">
                  <c:v>8.1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7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Volume</c:v>
                </c:pt>
              </c:strCache>
            </c:strRef>
          </c:tx>
          <c:spPr>
            <a:solidFill>
              <a:srgbClr val="4BB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E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7EC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BB3E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6AM</c:v>
                  </c:pt>
                  <c:pt idx="1">
                    <c:v>8AM</c:v>
                  </c:pt>
                  <c:pt idx="2">
                    <c:v>10AM</c:v>
                  </c:pt>
                  <c:pt idx="3">
                    <c:v>12PM</c:v>
                  </c:pt>
                  <c:pt idx="4">
                    <c:v>2PM</c:v>
                  </c:pt>
                  <c:pt idx="5">
                    <c:v>4PM</c:v>
                  </c:pt>
                  <c:pt idx="6">
                    <c:v>6PM</c:v>
                  </c:pt>
                  <c:pt idx="7">
                    <c:v>8PM</c:v>
                  </c:pt>
                  <c:pt idx="8">
                    <c:v>10PM</c:v>
                  </c:pt>
                  <c:pt idx="9">
                    <c:v>12AM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72</c:v>
                </c:pt>
                <c:pt idx="2">
                  <c:v>60</c:v>
                </c:pt>
                <c:pt idx="3">
                  <c:v>45</c:v>
                </c:pt>
                <c:pt idx="4">
                  <c:v>38</c:v>
                </c:pt>
                <c:pt idx="5">
                  <c:v>55</c:v>
                </c:pt>
                <c:pt idx="6">
                  <c:v>95</c:v>
                </c:pt>
                <c:pt idx="7">
                  <c:v>70</c:v>
                </c:pt>
                <c:pt idx="8">
                  <c:v>30</c:v>
                </c:pt>
                <c:pt idx="9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BOOKING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REPORT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5486400" cy="36576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Khan  |  Data Analyst &amp; Data Scientist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1,50,000 Ride Bookings  |  Variables: 21  |  Format: Exploratory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D7EC4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Rides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40233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D7EC4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40233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D7EC4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Driver Rating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40233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D7EC4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Booking Value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Assessment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Performance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Demand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Distance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188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1188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05740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057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&amp; Satisfaction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2608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926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40680" y="2926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Deep Dive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37947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794760"/>
            <a:ext cx="502920" cy="68580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4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40680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Analysis &amp;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Assessment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70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70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704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Status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exist but are expected — they arise from cancelled or incomplete rides where fare, distance, and ratings were never generated. This is a business-logic null pattern, not a data collection error.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D7EC4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imputation required. Dataset integrity is confirmed high across all 21 variables.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029200" y="100584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09728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164592" cy="548640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Rides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097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755648"/>
            <a:ext cx="164592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1755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by Driver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0" y="17556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41401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414016"/>
            <a:ext cx="164592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Driver Found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74720" y="2414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3072384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072384"/>
            <a:ext cx="164592" cy="54864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0723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by Customer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74720" y="3072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73075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730752"/>
            <a:ext cx="164592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3730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474720" y="37307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Demand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097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0936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 </a:t>
            </a:r>
            <a:pPr indent="0" marL="0">
              <a:buNone/>
            </a:pPr>
            <a:r>
              <a:rPr lang="en-US" sz="13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24.95%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 — affordable &amp; widely available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901952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190195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Mini  </a:t>
            </a:r>
            <a:pPr indent="0" marL="0">
              <a:buNone/>
            </a:pPr>
            <a:r>
              <a:rPr lang="en-US" sz="13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19.87%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2249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choice — compact urban rides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706624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70662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Sedan  </a:t>
            </a:r>
            <a:pPr indent="0" marL="0">
              <a:buNone/>
            </a:pPr>
            <a:r>
              <a:rPr lang="en-US" sz="13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18.09%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0540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for comfort-seeking travelers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511296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60720" y="351129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 </a:t>
            </a:r>
            <a:pPr indent="0" marL="0">
              <a:buNone/>
            </a:pPr>
            <a:r>
              <a:rPr lang="en-US" sz="13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15.01%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Quick, budget option for solo riders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Payment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₹508.30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Booking Value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24.64 km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Ride Distance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6517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84632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Dominates at 45%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46320" y="3154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 UPI — Digital leader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35021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 Cash — Conversion opportunity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38496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 Uber Wallet — In-app engagement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4197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 Credit Card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4544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 Debit Card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&amp; Cancellation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 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— room to improve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0D7EC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704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 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customer satisfaction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Rides Are Cancelled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Driver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address entered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of plans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78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not moving to pickup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asked to cancel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Customer-related issues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illness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0782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Personal/vehicle issues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4256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passengers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Demand Patterns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51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6 PM is the single highest-volume hour. High demand windows: 8–10 AM &amp; 5–8 PM. Platform primarily serves urban commuters.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3D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Cancellation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high-cancellation drivers with automated alerts and penalty thresholds.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3D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860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Peak-Hour Incentives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bonus pay to attract more drivers during the 5–8 PM window.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3D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5204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Optimization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Auto and Go Mini in the top-10 demand hotspot zones.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0515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3D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0515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Payment Push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in-app cashback campaigns to migrate the 25% cash user base to UPI.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B3D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2860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'driver asked to cancel' cases and enforce zero-tolerance platform policies.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7E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 complete — 38% represent direct revenue leakage needing urgent resolution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219456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cancellations are the #1 operational challenge on the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283464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adoption shows a modern, digitally-ready customer 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747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347472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 satisfaction — strong brand equity to build upon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B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411480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demand hour — fleet readiness here has maximum revenue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Nadir Khan  |  Data Analyst &amp; Data Scientist  |  github.com/NADIR789259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 Booking Data Analysis Report</dc:title>
  <dc:subject>PptxGenJS Presentation</dc:subject>
  <dc:creator>Nadir Khan</dc:creator>
  <cp:lastModifiedBy>Nadir Khan</cp:lastModifiedBy>
  <cp:revision>1</cp:revision>
  <dcterms:created xsi:type="dcterms:W3CDTF">2026-06-10T09:17:47Z</dcterms:created>
  <dcterms:modified xsi:type="dcterms:W3CDTF">2026-06-10T09:17:47Z</dcterms:modified>
</cp:coreProperties>
</file>